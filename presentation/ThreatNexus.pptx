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Alice" panose="020B0604020202020204" charset="0"/>
      <p:regular r:id="rId13"/>
    </p:embeddedFon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Lora" panose="020F0502020204030204" pitchFamily="2" charset="0"/>
      <p:regular r:id="rId18"/>
    </p:embeddedFont>
    <p:embeddedFont>
      <p:font typeface="Lora 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8805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1040904"/>
            <a:ext cx="5477730" cy="287139"/>
          </a:xfrm>
          <a:prstGeom prst="roundRect">
            <a:avLst>
              <a:gd name="adj" fmla="val 7899"/>
            </a:avLst>
          </a:prstGeom>
          <a:solidFill>
            <a:srgbClr val="D7F4E4"/>
          </a:solidFill>
          <a:ln/>
        </p:spPr>
      </p:sp>
      <p:sp>
        <p:nvSpPr>
          <p:cNvPr id="4" name="Text 1"/>
          <p:cNvSpPr/>
          <p:nvPr/>
        </p:nvSpPr>
        <p:spPr>
          <a:xfrm>
            <a:off x="5346765" y="1097558"/>
            <a:ext cx="586050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THREATNEXUS · IBM BOB AI INNOVATION HACKATHON 2026 · TRACK: AI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233360" y="1403648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FLEETIQ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5233360" y="2069902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AI-Powered Supply Chain Disruption &amp; Fleet Utilisation Assistant</a:t>
            </a:r>
            <a:endParaRPr lang="en-US" sz="2950" dirty="0"/>
          </a:p>
        </p:txBody>
      </p:sp>
      <p:sp>
        <p:nvSpPr>
          <p:cNvPr id="7" name="Text 4"/>
          <p:cNvSpPr/>
          <p:nvPr/>
        </p:nvSpPr>
        <p:spPr>
          <a:xfrm>
            <a:off x="5233360" y="3298329"/>
            <a:ext cx="6296860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Detect. Predict. Optimise. Act.</a:t>
            </a:r>
            <a:endParaRPr lang="en-US" sz="5100" dirty="0"/>
          </a:p>
        </p:txBody>
      </p:sp>
      <p:sp>
        <p:nvSpPr>
          <p:cNvPr id="8" name="Text 5"/>
          <p:cNvSpPr/>
          <p:nvPr/>
        </p:nvSpPr>
        <p:spPr>
          <a:xfrm>
            <a:off x="5233360" y="5212159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Team: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Krisha Prajapati (Team Lead) · Diya Joshi · Dhruvi Raval · Shrey Raval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Supply Chains Are Disrupted From Multiple Directions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Operations teams face cascading disruption signals — but lack a unified way to prioritise and act.</a:t>
            </a:r>
            <a:endParaRPr lang="en-US" sz="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129109"/>
            <a:ext cx="5319083" cy="5319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487" y="3425627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The Core Challenge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217487" y="3620492"/>
            <a:ext cx="59286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challenge is not only collecting operational data — it is turning fragmented signals into prioritised action.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6217487" y="3786981"/>
            <a:ext cx="5319083" cy="358973"/>
          </a:xfrm>
          <a:prstGeom prst="roundRect">
            <a:avLst>
              <a:gd name="adj" fmla="val 3949"/>
            </a:avLst>
          </a:prstGeom>
          <a:solidFill>
            <a:srgbClr val="D7F4E4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941" y="3864074"/>
            <a:ext cx="118067" cy="94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24462" y="3853061"/>
            <a:ext cx="4917654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Without a unified intelligence layer, disruptions cascade unchecked across shipments, fleet, and cold-chain operations.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Introducing FLEETIQ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One unified operational intelligence layer — from raw disruption signals to actionable decisions.</a:t>
            </a:r>
            <a:endParaRPr lang="en-US" sz="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645" y="1076027"/>
            <a:ext cx="9696406" cy="52986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26245" y="3558773"/>
            <a:ext cx="2246753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Operational Events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199678" y="3371454"/>
            <a:ext cx="2246753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FLEETIQ Intelligence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428174" y="3382493"/>
            <a:ext cx="2246753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Risk &amp; Recommendations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61475" y="6427787"/>
            <a:ext cx="5410759" cy="478234"/>
          </a:xfrm>
          <a:prstGeom prst="roundRect">
            <a:avLst>
              <a:gd name="adj" fmla="val 2964"/>
            </a:avLst>
          </a:prstGeom>
          <a:solidFill>
            <a:srgbClr val="F0EDE6"/>
          </a:solidFill>
          <a:ln/>
        </p:spPr>
      </p:sp>
      <p:sp>
        <p:nvSpPr>
          <p:cNvPr id="9" name="Text 6"/>
          <p:cNvSpPr/>
          <p:nvPr/>
        </p:nvSpPr>
        <p:spPr>
          <a:xfrm>
            <a:off x="755929" y="6522244"/>
            <a:ext cx="522185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L2-1 · Shipment Impact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55929" y="6698159"/>
            <a:ext cx="522185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Prioritise affected shipments by severity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6119461" y="6427787"/>
            <a:ext cx="5410759" cy="478234"/>
          </a:xfrm>
          <a:prstGeom prst="roundRect">
            <a:avLst>
              <a:gd name="adj" fmla="val 2964"/>
            </a:avLst>
          </a:prstGeom>
          <a:solidFill>
            <a:srgbClr val="F0EDE6"/>
          </a:solidFill>
          <a:ln/>
        </p:spPr>
      </p:sp>
      <p:sp>
        <p:nvSpPr>
          <p:cNvPr id="12" name="Text 9"/>
          <p:cNvSpPr/>
          <p:nvPr/>
        </p:nvSpPr>
        <p:spPr>
          <a:xfrm>
            <a:off x="6213915" y="6522244"/>
            <a:ext cx="522185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L2-2 · Route &amp; Carrier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3915" y="6698159"/>
            <a:ext cx="522185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Recommend alternatives with trade-offs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661475" y="6953250"/>
            <a:ext cx="5410759" cy="478234"/>
          </a:xfrm>
          <a:prstGeom prst="roundRect">
            <a:avLst>
              <a:gd name="adj" fmla="val 2964"/>
            </a:avLst>
          </a:prstGeom>
          <a:solidFill>
            <a:srgbClr val="F0EDE6"/>
          </a:solidFill>
          <a:ln/>
        </p:spPr>
      </p:sp>
      <p:sp>
        <p:nvSpPr>
          <p:cNvPr id="15" name="Text 12"/>
          <p:cNvSpPr/>
          <p:nvPr/>
        </p:nvSpPr>
        <p:spPr>
          <a:xfrm>
            <a:off x="755929" y="7047706"/>
            <a:ext cx="522185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L2-3 · Fleet Redeployment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55929" y="7223621"/>
            <a:ext cx="522185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Score idle vehicles for redeployment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6119461" y="6953250"/>
            <a:ext cx="5410759" cy="478234"/>
          </a:xfrm>
          <a:prstGeom prst="roundRect">
            <a:avLst>
              <a:gd name="adj" fmla="val 2964"/>
            </a:avLst>
          </a:prstGeom>
          <a:solidFill>
            <a:srgbClr val="F0EDE6"/>
          </a:solidFill>
          <a:ln/>
        </p:spPr>
      </p:sp>
      <p:sp>
        <p:nvSpPr>
          <p:cNvPr id="18" name="Text 15"/>
          <p:cNvSpPr/>
          <p:nvPr/>
        </p:nvSpPr>
        <p:spPr>
          <a:xfrm>
            <a:off x="6213915" y="7047706"/>
            <a:ext cx="522185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L2-4 · Cold-Chain Ranking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213915" y="7223621"/>
            <a:ext cx="522185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Rank temperature excursions by severity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661475" y="7484566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One platform. Four operational decisions.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From Operational Data to Action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FLEETIQ's pipeline transforms raw operational data into prioritised, explainable decisions — with IBM Granite providing the final AI briefing layer.</a:t>
            </a:r>
            <a:endParaRPr lang="en-US" sz="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481" y="1358244"/>
            <a:ext cx="5390732" cy="53907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27443" y="2071964"/>
            <a:ext cx="1948539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Operational Data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3827443" y="2558237"/>
            <a:ext cx="1948539" cy="550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Collect raw telemetry and logs for processing.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639" y="2122527"/>
            <a:ext cx="1948539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SQLite Database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460347" y="2558238"/>
            <a:ext cx="1948539" cy="550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Store and index operational records efficiently.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842823" y="4609000"/>
            <a:ext cx="1948538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Intelligence Engines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3827443" y="5390520"/>
            <a:ext cx="1948538" cy="550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Run five deterministic models to score events.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640" y="4620152"/>
            <a:ext cx="1948539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Risk &amp; Recommendation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400640" y="5361550"/>
            <a:ext cx="1948539" cy="550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Generate prioritised, explainable operational scores.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61475" y="7176492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deterministic intelligence layer calculates operational scores first. IBM Granite then transforms those results into a concise, understandable operational briefing.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0983"/>
            <a:ext cx="10868745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Five Intelligence Engines. One Operational View.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145580"/>
            <a:ext cx="10868745" cy="958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2941" y="1503164"/>
            <a:ext cx="194861" cy="243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289613" y="1294507"/>
            <a:ext cx="10091683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Disruption Detection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289613" y="1551087"/>
            <a:ext cx="10091683" cy="404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Severity + geography + temporal relevance</a:t>
            </a:r>
            <a:endParaRPr lang="en-US" sz="10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1B5F39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Output:</a:t>
            </a: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Disruption detection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193727"/>
            <a:ext cx="10868745" cy="9588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2941" y="2551311"/>
            <a:ext cx="194861" cy="243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289613" y="2342654"/>
            <a:ext cx="10091683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Impact Analyzer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289613" y="2599234"/>
            <a:ext cx="10091683" cy="404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Severity + proximity + cargo sensitivity + shipment value</a:t>
            </a:r>
            <a:endParaRPr lang="en-US" sz="10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1B5F39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Output:</a:t>
            </a: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Impact score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241873"/>
            <a:ext cx="10868745" cy="9588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42941" y="3599458"/>
            <a:ext cx="194861" cy="243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289613" y="3390801"/>
            <a:ext cx="10091683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Route Recommender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1289613" y="3647380"/>
            <a:ext cx="10091683" cy="404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Alternate route · Alternate carrier · Hold &amp; wait — with delay and cost trade-offs</a:t>
            </a:r>
            <a:endParaRPr lang="en-US" sz="10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1B5F39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Output:</a:t>
            </a: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Recommendation</a:t>
            </a:r>
            <a:endParaRPr lang="en-US" sz="1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290020"/>
            <a:ext cx="10868745" cy="9588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42941" y="4647605"/>
            <a:ext cx="194861" cy="243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1289613" y="4438948"/>
            <a:ext cx="10091683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Fleet Optimizer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1289613" y="4695527"/>
            <a:ext cx="10091683" cy="404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Haversine distance + capacity compatibility + vehicle-type suitability</a:t>
            </a:r>
            <a:endParaRPr lang="en-US" sz="10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1B5F39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Output:</a:t>
            </a: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Redeployment score</a:t>
            </a:r>
            <a:endParaRPr lang="en-US" sz="10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338167"/>
            <a:ext cx="10868745" cy="95885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2941" y="5695752"/>
            <a:ext cx="194861" cy="243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1289613" y="5487095"/>
            <a:ext cx="10091683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Cold-Chain Ranker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1289613" y="5743674"/>
            <a:ext cx="10091683" cy="404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Temperature deviation + excursion duration + cargo sensitivity</a:t>
            </a:r>
            <a:endParaRPr lang="en-US" sz="10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1B5F39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Output:</a:t>
            </a: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Severity ranking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IBM Granite Turns Operational Signals Into an AI Briefing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2954734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Architectural Principle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21058" y="3157240"/>
            <a:ext cx="5925096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AI explains the situation. Business logic determines the underlying operational scores.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221058" y="3320455"/>
            <a:ext cx="5315512" cy="524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Configurable Granite model via watsonx.ai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Graceful fallback when credentials unavailable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summary generated entirely from application data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IBM Bob + MCP planned for natural-language queries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6221058" y="3901877"/>
            <a:ext cx="5315512" cy="375047"/>
          </a:xfrm>
          <a:prstGeom prst="roundRect">
            <a:avLst>
              <a:gd name="adj" fmla="val 3898"/>
            </a:avLst>
          </a:prstGeom>
          <a:solidFill>
            <a:srgbClr val="D7F4E4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489" y="3979962"/>
            <a:ext cx="121738" cy="9743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37658" y="3971330"/>
            <a:ext cx="4901482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IBM Granite receives structured operational statistics — it does not calculate scores or make autonomous decisions.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3586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Three Pages Cover the Complete L2 Problem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204541"/>
            <a:ext cx="2009923" cy="124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683000"/>
            <a:ext cx="3465426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Dashboard · </a:t>
            </a:r>
            <a:r>
              <a:rPr lang="en-US" sz="18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104382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Operational KPIs · Active disruptions · At-risk shipments · Idle fleet · Cold-chain status · AI summary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2204541"/>
            <a:ext cx="2009923" cy="12422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683000"/>
            <a:ext cx="3465426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Disruptions &amp; Shipments · </a:t>
            </a:r>
            <a:r>
              <a:rPr lang="en-US" sz="18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/disruptions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4399657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L2-1 · L2-2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Affected shipments · Impact scores · Route recommendations · Carrier alternatives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2204541"/>
            <a:ext cx="2009923" cy="12422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683000"/>
            <a:ext cx="3465426" cy="615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Fleet &amp; Cold Chain · </a:t>
            </a:r>
            <a:r>
              <a:rPr lang="en-US" sz="18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/fleet-coldchain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4412357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L2-3 · L2-4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Idle fleet redeployment scores · Temperature excursions · Severity ranking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FLEETIQ Technical Architecture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2649934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Technology Stack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6221058" y="2858691"/>
            <a:ext cx="2632604" cy="540841"/>
          </a:xfrm>
          <a:prstGeom prst="roundRect">
            <a:avLst>
              <a:gd name="adj" fmla="val 2703"/>
            </a:avLst>
          </a:prstGeom>
          <a:solidFill>
            <a:srgbClr val="FCFBF8"/>
          </a:solidFill>
          <a:ln w="12700">
            <a:solidFill>
              <a:srgbClr val="D6D3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31188" y="2968823"/>
            <a:ext cx="2412344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Frontend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331188" y="3171329"/>
            <a:ext cx="2412344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React · Vite · TailwindCSS · Recharts · Zustand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8903866" y="2858691"/>
            <a:ext cx="2632704" cy="540841"/>
          </a:xfrm>
          <a:prstGeom prst="roundRect">
            <a:avLst>
              <a:gd name="adj" fmla="val 2703"/>
            </a:avLst>
          </a:prstGeom>
          <a:solidFill>
            <a:srgbClr val="FCFBF8"/>
          </a:solidFill>
          <a:ln w="12700">
            <a:solidFill>
              <a:srgbClr val="D6D3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013996" y="2968823"/>
            <a:ext cx="2412444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Backend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013996" y="3171329"/>
            <a:ext cx="2412444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Python · FastAPI · SQLAlchemy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221058" y="3449737"/>
            <a:ext cx="2632604" cy="540841"/>
          </a:xfrm>
          <a:prstGeom prst="roundRect">
            <a:avLst>
              <a:gd name="adj" fmla="val 2703"/>
            </a:avLst>
          </a:prstGeom>
          <a:solidFill>
            <a:srgbClr val="FCFBF8"/>
          </a:solidFill>
          <a:ln w="12700">
            <a:solidFill>
              <a:srgbClr val="D6D3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31188" y="3559870"/>
            <a:ext cx="2412344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AI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331188" y="3762375"/>
            <a:ext cx="2412344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IBM watsonx.ai · IBM Granite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8903866" y="3449737"/>
            <a:ext cx="2632704" cy="540841"/>
          </a:xfrm>
          <a:prstGeom prst="roundRect">
            <a:avLst>
              <a:gd name="adj" fmla="val 2703"/>
            </a:avLst>
          </a:prstGeom>
          <a:solidFill>
            <a:srgbClr val="FCFBF8"/>
          </a:solidFill>
          <a:ln w="12700">
            <a:solidFill>
              <a:srgbClr val="D6D3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13996" y="3559870"/>
            <a:ext cx="2412444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Integration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9013996" y="3762375"/>
            <a:ext cx="2412444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IBM Bob · MCP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6221058" y="4040783"/>
            <a:ext cx="5315512" cy="540841"/>
          </a:xfrm>
          <a:prstGeom prst="roundRect">
            <a:avLst>
              <a:gd name="adj" fmla="val 2703"/>
            </a:avLst>
          </a:prstGeom>
          <a:solidFill>
            <a:srgbClr val="FCFBF8"/>
          </a:solidFill>
          <a:ln w="12700">
            <a:solidFill>
              <a:srgbClr val="D6D3C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31188" y="4150916"/>
            <a:ext cx="5095251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Testing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331188" y="4353421"/>
            <a:ext cx="5095251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pytest · GitHub Actions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Ask FLEETIQ What Matters Most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3215382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IBM Bob + MCP Natural-Language Interface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416102"/>
            <a:ext cx="2635879" cy="52913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4580" y="3416102"/>
            <a:ext cx="2635978" cy="529134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992463"/>
            <a:ext cx="2635879" cy="529134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4580" y="3992463"/>
            <a:ext cx="2635978" cy="529134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6217487" y="933152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Conceptual Query Flow</a:t>
            </a:r>
            <a:endParaRPr lang="en-US" sz="900" dirty="0"/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487" y="1133872"/>
            <a:ext cx="5319083" cy="5319216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6217487" y="6506170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Demo Journey</a:t>
            </a:r>
            <a:endParaRPr lang="en-US" sz="900" dirty="0"/>
          </a:p>
        </p:txBody>
      </p:sp>
      <p:sp>
        <p:nvSpPr>
          <p:cNvPr id="11" name="Text 4"/>
          <p:cNvSpPr/>
          <p:nvPr/>
        </p:nvSpPr>
        <p:spPr>
          <a:xfrm>
            <a:off x="6217487" y="6701036"/>
            <a:ext cx="59286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Dashboard → Disruption → Shipment → Recommendation → Fleet → Cold Chain → AI Summary</a:t>
            </a:r>
            <a:endParaRPr lang="en-US" sz="700" dirty="0"/>
          </a:p>
        </p:txBody>
      </p:sp>
      <p:sp>
        <p:nvSpPr>
          <p:cNvPr id="12" name="Text 5"/>
          <p:cNvSpPr/>
          <p:nvPr/>
        </p:nvSpPr>
        <p:spPr>
          <a:xfrm>
            <a:off x="755929" y="3510558"/>
            <a:ext cx="244697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"Which shipments are most at risk?"</a:t>
            </a:r>
            <a:endParaRPr lang="en-US" sz="700" dirty="0"/>
          </a:p>
        </p:txBody>
      </p:sp>
      <p:sp>
        <p:nvSpPr>
          <p:cNvPr id="13" name="Text 6"/>
          <p:cNvSpPr/>
          <p:nvPr/>
        </p:nvSpPr>
        <p:spPr>
          <a:xfrm>
            <a:off x="3439034" y="3510558"/>
            <a:ext cx="2447070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"Which fleet vehicles are idle and suitable for redeployment?"</a:t>
            </a:r>
            <a:endParaRPr lang="en-US" sz="700" dirty="0"/>
          </a:p>
        </p:txBody>
      </p:sp>
      <p:sp>
        <p:nvSpPr>
          <p:cNvPr id="14" name="Text 7"/>
          <p:cNvSpPr/>
          <p:nvPr/>
        </p:nvSpPr>
        <p:spPr>
          <a:xfrm>
            <a:off x="755929" y="4086920"/>
            <a:ext cx="2446971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"Which cold-chain incidents require immediate attention?"</a:t>
            </a:r>
            <a:endParaRPr lang="en-US" sz="700" dirty="0"/>
          </a:p>
        </p:txBody>
      </p:sp>
      <p:sp>
        <p:nvSpPr>
          <p:cNvPr id="15" name="Text 8"/>
          <p:cNvSpPr/>
          <p:nvPr/>
        </p:nvSpPr>
        <p:spPr>
          <a:xfrm>
            <a:off x="3439034" y="4086920"/>
            <a:ext cx="244707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"Generate an operational summary."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4498"/>
            <a:ext cx="10868745" cy="396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From Disruption Data to Operational Decisions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661475" y="1152029"/>
            <a:ext cx="3566031" cy="1309688"/>
          </a:xfrm>
          <a:prstGeom prst="roundRect">
            <a:avLst>
              <a:gd name="adj" fmla="val 1455"/>
            </a:avLst>
          </a:prstGeom>
          <a:solidFill>
            <a:srgbClr val="F0EDE6"/>
          </a:solidFill>
          <a:ln/>
        </p:spPr>
      </p:sp>
      <p:sp>
        <p:nvSpPr>
          <p:cNvPr id="4" name="Shape 2"/>
          <p:cNvSpPr/>
          <p:nvPr/>
        </p:nvSpPr>
        <p:spPr>
          <a:xfrm>
            <a:off x="788472" y="1279029"/>
            <a:ext cx="380990" cy="381000"/>
          </a:xfrm>
          <a:prstGeom prst="ellipse">
            <a:avLst/>
          </a:prstGeom>
          <a:solidFill>
            <a:srgbClr val="1B5F39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3244" y="1383804"/>
            <a:ext cx="171446" cy="171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8472" y="1745357"/>
            <a:ext cx="331203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Faster Prioritisation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88472" y="1994991"/>
            <a:ext cx="3312037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Identify high-impact shipments and critical incidents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312832" y="1152029"/>
            <a:ext cx="3566031" cy="1309688"/>
          </a:xfrm>
          <a:prstGeom prst="roundRect">
            <a:avLst>
              <a:gd name="adj" fmla="val 1455"/>
            </a:avLst>
          </a:prstGeom>
          <a:solidFill>
            <a:srgbClr val="F0EDE6"/>
          </a:solidFill>
          <a:ln/>
        </p:spPr>
      </p:sp>
      <p:sp>
        <p:nvSpPr>
          <p:cNvPr id="9" name="Shape 6"/>
          <p:cNvSpPr/>
          <p:nvPr/>
        </p:nvSpPr>
        <p:spPr>
          <a:xfrm>
            <a:off x="4439829" y="1279029"/>
            <a:ext cx="380990" cy="381000"/>
          </a:xfrm>
          <a:prstGeom prst="ellipse">
            <a:avLst/>
          </a:prstGeom>
          <a:solidFill>
            <a:srgbClr val="1B5F39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44601" y="1383804"/>
            <a:ext cx="171446" cy="1714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39829" y="1745357"/>
            <a:ext cx="331203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Better Fleet Utilisation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439829" y="1994991"/>
            <a:ext cx="3312037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Find idle vehicles suitable for redeployment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7964189" y="1152029"/>
            <a:ext cx="3566031" cy="1309688"/>
          </a:xfrm>
          <a:prstGeom prst="roundRect">
            <a:avLst>
              <a:gd name="adj" fmla="val 1455"/>
            </a:avLst>
          </a:prstGeom>
          <a:solidFill>
            <a:srgbClr val="F0EDE6"/>
          </a:solidFill>
          <a:ln/>
        </p:spPr>
      </p:sp>
      <p:sp>
        <p:nvSpPr>
          <p:cNvPr id="14" name="Shape 10"/>
          <p:cNvSpPr/>
          <p:nvPr/>
        </p:nvSpPr>
        <p:spPr>
          <a:xfrm>
            <a:off x="8091186" y="1279029"/>
            <a:ext cx="380990" cy="381000"/>
          </a:xfrm>
          <a:prstGeom prst="ellipse">
            <a:avLst/>
          </a:prstGeom>
          <a:solidFill>
            <a:srgbClr val="1B5F39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95958" y="1383804"/>
            <a:ext cx="171446" cy="1714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091186" y="1745357"/>
            <a:ext cx="331203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Reduced Operational Risk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8091186" y="1994991"/>
            <a:ext cx="3312037" cy="339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Prioritise disruption and cold-chain incidents systematically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61475" y="2547045"/>
            <a:ext cx="5391710" cy="1139825"/>
          </a:xfrm>
          <a:prstGeom prst="roundRect">
            <a:avLst>
              <a:gd name="adj" fmla="val 1671"/>
            </a:avLst>
          </a:prstGeom>
          <a:solidFill>
            <a:srgbClr val="F0EDE6"/>
          </a:solidFill>
          <a:ln/>
        </p:spPr>
      </p:sp>
      <p:sp>
        <p:nvSpPr>
          <p:cNvPr id="19" name="Shape 14"/>
          <p:cNvSpPr/>
          <p:nvPr/>
        </p:nvSpPr>
        <p:spPr>
          <a:xfrm>
            <a:off x="788472" y="2674045"/>
            <a:ext cx="380990" cy="381000"/>
          </a:xfrm>
          <a:prstGeom prst="ellipse">
            <a:avLst/>
          </a:prstGeom>
          <a:solidFill>
            <a:srgbClr val="1B5F39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3244" y="2778820"/>
            <a:ext cx="171446" cy="17145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88472" y="3140373"/>
            <a:ext cx="513771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Explainable Intelligence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788472" y="3390007"/>
            <a:ext cx="5137716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Transparent scoring based on operational factors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6138510" y="2547045"/>
            <a:ext cx="5391710" cy="1139825"/>
          </a:xfrm>
          <a:prstGeom prst="roundRect">
            <a:avLst>
              <a:gd name="adj" fmla="val 1671"/>
            </a:avLst>
          </a:prstGeom>
          <a:solidFill>
            <a:srgbClr val="F0EDE6"/>
          </a:solidFill>
          <a:ln/>
        </p:spPr>
      </p:sp>
      <p:sp>
        <p:nvSpPr>
          <p:cNvPr id="24" name="Shape 18"/>
          <p:cNvSpPr/>
          <p:nvPr/>
        </p:nvSpPr>
        <p:spPr>
          <a:xfrm>
            <a:off x="6265507" y="2674045"/>
            <a:ext cx="380990" cy="381000"/>
          </a:xfrm>
          <a:prstGeom prst="ellipse">
            <a:avLst/>
          </a:prstGeom>
          <a:solidFill>
            <a:srgbClr val="1B5F39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70280" y="2778820"/>
            <a:ext cx="171446" cy="17145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265507" y="3140373"/>
            <a:ext cx="513771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AI-Assisted Operations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6265507" y="3390007"/>
            <a:ext cx="5137716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IBM Granite converts complex data into a concise briefing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661475" y="3868142"/>
            <a:ext cx="527949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661475" y="4151908"/>
            <a:ext cx="5279496" cy="136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1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Real-time GPS and fleet telemetry</a:t>
            </a:r>
            <a:endParaRPr lang="en-US" sz="950" dirty="0"/>
          </a:p>
          <a:p>
            <a:pPr marL="193040" indent="-193040" algn="l">
              <a:lnSpc>
                <a:spcPct val="111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Live weather and port feeds</a:t>
            </a:r>
            <a:endParaRPr lang="en-US" sz="950" dirty="0"/>
          </a:p>
          <a:p>
            <a:pPr marL="193040" indent="-193040" algn="l">
              <a:lnSpc>
                <a:spcPct val="111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Predictive disruption forecasting</a:t>
            </a:r>
            <a:endParaRPr lang="en-US" sz="950" dirty="0"/>
          </a:p>
          <a:p>
            <a:pPr marL="193040" indent="-193040" algn="l">
              <a:lnSpc>
                <a:spcPct val="111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Advanced ML-based forecasting</a:t>
            </a:r>
            <a:endParaRPr lang="en-US" sz="950" dirty="0"/>
          </a:p>
          <a:p>
            <a:pPr marL="193040" indent="-193040" algn="l">
              <a:lnSpc>
                <a:spcPct val="111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Automated alerts</a:t>
            </a:r>
            <a:endParaRPr lang="en-US" sz="950" dirty="0"/>
          </a:p>
          <a:p>
            <a:pPr marL="193040" indent="-193040" algn="l">
              <a:lnSpc>
                <a:spcPct val="111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Production cloud deployment</a:t>
            </a:r>
            <a:endParaRPr lang="en-US" sz="950" dirty="0"/>
          </a:p>
          <a:p>
            <a:pPr marL="193040" indent="-193040" algn="l">
              <a:lnSpc>
                <a:spcPct val="111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Historical trend analytics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6165696" y="3782814"/>
            <a:ext cx="5462252" cy="1767185"/>
          </a:xfrm>
          <a:prstGeom prst="roundRect">
            <a:avLst>
              <a:gd name="adj" fmla="val 1078"/>
            </a:avLst>
          </a:prstGeom>
          <a:solidFill>
            <a:srgbClr val="1B5F39"/>
          </a:solidFill>
          <a:ln/>
        </p:spPr>
      </p:sp>
      <p:sp>
        <p:nvSpPr>
          <p:cNvPr id="31" name="Text 24"/>
          <p:cNvSpPr/>
          <p:nvPr/>
        </p:nvSpPr>
        <p:spPr>
          <a:xfrm>
            <a:off x="6292693" y="3868142"/>
            <a:ext cx="520825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Current Status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6292693" y="4151908"/>
            <a:ext cx="5817844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Backend foundation and business-logic phases implemented and tested.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6292693" y="4398566"/>
            <a:ext cx="5208259" cy="968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1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FastAPI backend + SQLAlchemy + SQLite</a:t>
            </a:r>
            <a:endParaRPr lang="en-US" sz="950" dirty="0"/>
          </a:p>
          <a:p>
            <a:pPr marL="193040" indent="-193040" algn="l">
              <a:lnSpc>
                <a:spcPct val="111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 business intelligence services</a:t>
            </a:r>
            <a:endParaRPr lang="en-US" sz="950" dirty="0"/>
          </a:p>
          <a:p>
            <a:pPr marL="193040" indent="-193040" algn="l">
              <a:lnSpc>
                <a:spcPct val="111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IBM watsonx.ai + Granite integration</a:t>
            </a:r>
            <a:endParaRPr lang="en-US" sz="950" dirty="0"/>
          </a:p>
          <a:p>
            <a:pPr marL="193040" indent="-193040" algn="l">
              <a:lnSpc>
                <a:spcPct val="111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Deterministic seeded demo data</a:t>
            </a:r>
            <a:endParaRPr lang="en-US" sz="950" dirty="0"/>
          </a:p>
          <a:p>
            <a:pPr marL="193040" indent="-193040" algn="l">
              <a:lnSpc>
                <a:spcPct val="111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146 passing backend tests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851970" y="5741888"/>
            <a:ext cx="10678250" cy="435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1000"/>
              </a:lnSpc>
              <a:spcAft>
                <a:spcPts val="750"/>
              </a:spcAft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FLEETIQ</a:t>
            </a: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"Detect disruption. Protect shipments. Optimise fleet. Act faster."</a:t>
            </a:r>
            <a:endParaRPr lang="en-US" sz="950" dirty="0"/>
          </a:p>
          <a:p>
            <a:pPr marL="0" indent="0" algn="l">
              <a:lnSpc>
                <a:spcPct val="111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ThreatNexus · IBM BoB AI Innovation Hackathon 2026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661475" y="5645944"/>
            <a:ext cx="19050" cy="627559"/>
          </a:xfrm>
          <a:prstGeom prst="roundRect">
            <a:avLst>
              <a:gd name="adj" fmla="val 49999"/>
            </a:avLst>
          </a:prstGeom>
          <a:solidFill>
            <a:srgbClr val="1B5F3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736</Words>
  <Application>Microsoft Office PowerPoint</Application>
  <PresentationFormat>Widescreen</PresentationFormat>
  <Paragraphs>132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Lora Bold</vt:lpstr>
      <vt:lpstr>Consolas</vt:lpstr>
      <vt:lpstr>Lora</vt:lpstr>
      <vt:lpstr>Alice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Dhruvi Raval</cp:lastModifiedBy>
  <cp:revision>2</cp:revision>
  <dcterms:created xsi:type="dcterms:W3CDTF">2026-09-15T15:11:05Z</dcterms:created>
  <dcterms:modified xsi:type="dcterms:W3CDTF">2026-09-15T15:13:10Z</dcterms:modified>
</cp:coreProperties>
</file>